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  <p:embeddedFont>
      <p:font typeface="Newsread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ontserratMediu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Medium-italic.fntdata"/><Relationship Id="rId23" Type="http://schemas.openxmlformats.org/officeDocument/2006/relationships/font" Target="fonts/Montserra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ewsreader-regular.fntdata"/><Relationship Id="rId25" Type="http://schemas.openxmlformats.org/officeDocument/2006/relationships/font" Target="fonts/MontserratMedium-boldItalic.fntdata"/><Relationship Id="rId28" Type="http://schemas.openxmlformats.org/officeDocument/2006/relationships/font" Target="fonts/Newsreader-italic.fntdata"/><Relationship Id="rId27" Type="http://schemas.openxmlformats.org/officeDocument/2006/relationships/font" Target="fonts/Newsread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ewsread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13534ef7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13534ef7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13534ef7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13534ef7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52d63487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52d63487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52d63487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52d63487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13534ef7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13534ef7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13534ef7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13534ef7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13534ef7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13534ef7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olistbr/brazilian-ecommerc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ublic.tableau.com/app/profile/johannes.vidal.blickle/viz/supplyguard_tableau_dashboard/Dashboard1-DeliveryOperationsOverview" TargetMode="External"/><Relationship Id="rId4" Type="http://schemas.openxmlformats.org/officeDocument/2006/relationships/hyperlink" Target="https://supplyguard-late-delivery-risk-prediction-app.streamlit.app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JohannesVidal/supplyguard-late-delivery-risk-prediction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52277"/>
            <a:ext cx="8520600" cy="174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t/>
            </a:r>
            <a:endParaRPr sz="33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t/>
            </a:r>
            <a:endParaRPr sz="33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Delivery Delay Risk Prediction for E-Commerce Operations </a:t>
            </a:r>
            <a:endParaRPr sz="330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523978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980">
                <a:latin typeface="Montserrat"/>
                <a:ea typeface="Montserrat"/>
                <a:cs typeface="Montserrat"/>
                <a:sym typeface="Montserrat"/>
              </a:rPr>
              <a:t>An end-to-end analytics and machine learning project to monitor delivery performance and prioritize high-risk orders. </a:t>
            </a:r>
            <a:endParaRPr sz="198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241700" y="4377764"/>
            <a:ext cx="6660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Johannes Vidal</a:t>
            </a:r>
            <a:endParaRPr sz="180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13" title="SupplyGuard_Logo.png"/>
          <p:cNvPicPr preferRelativeResize="0"/>
          <p:nvPr/>
        </p:nvPicPr>
        <p:blipFill rotWithShape="1">
          <a:blip r:embed="rId3">
            <a:alphaModFix/>
          </a:blip>
          <a:srcRect b="33005" l="0" r="0" t="27134"/>
          <a:stretch/>
        </p:blipFill>
        <p:spPr>
          <a:xfrm>
            <a:off x="2295326" y="37225"/>
            <a:ext cx="4553349" cy="181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74550" y="249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Problem: </a:t>
            </a:r>
            <a:endParaRPr sz="2133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6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Late deliveries create operational pressure and damage customer satisfaction</a:t>
            </a:r>
            <a:r>
              <a:rPr lang="en" sz="1806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806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74550" y="1518192"/>
            <a:ext cx="43194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E-commerce companies need to know: 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4550" y="4103425"/>
            <a:ext cx="882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5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Can we identify orders with higher late-delivery risk before the customer is affected? </a:t>
            </a:r>
            <a:endParaRPr b="1" sz="125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4550" y="2097246"/>
            <a:ext cx="41703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Where late deliveries are concentrated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Which order profiles are more exposed to delay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Which orders need earlier operational attention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" name="Google Shape;66;p14" title="ChatGPT Image 28 may 2026, 13_32_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8482" y="1111716"/>
            <a:ext cx="4899148" cy="2757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0" y="0"/>
            <a:ext cx="8730300" cy="9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latin typeface="Montserrat SemiBold"/>
                <a:ea typeface="Montserrat SemiBold"/>
                <a:cs typeface="Montserrat SemiBold"/>
                <a:sym typeface="Montserrat SemiBold"/>
              </a:rPr>
              <a:t>Project Approach:</a:t>
            </a:r>
            <a:endParaRPr sz="20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Montserrat SemiBold"/>
                <a:ea typeface="Montserrat SemiBold"/>
                <a:cs typeface="Montserrat SemiBold"/>
                <a:sym typeface="Montserrat SemiBold"/>
              </a:rPr>
              <a:t>  From raw data to operational decision support </a:t>
            </a:r>
            <a:endParaRPr sz="29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20"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77475" y="1017125"/>
            <a:ext cx="5530800" cy="40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The project follows an end-to-end analytics workflow: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457200" rtl="0" algn="l">
              <a:lnSpc>
                <a:spcPct val="250000"/>
              </a:lnSpc>
              <a:spcBef>
                <a:spcPts val="1200"/>
              </a:spcBef>
              <a:spcAft>
                <a:spcPts val="0"/>
              </a:spcAft>
              <a:buSzPts val="1250"/>
              <a:buFont typeface="Montserrat"/>
              <a:buAutoNum type="arabicPeriod"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Prepare and structure the </a:t>
            </a:r>
            <a:r>
              <a:rPr lang="en" sz="125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data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50"/>
              <a:buFont typeface="Montserrat"/>
              <a:buAutoNum type="arabicPeriod"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Analyze delivery performance and risk patterns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50"/>
              <a:buFont typeface="Montserrat"/>
              <a:buAutoNum type="arabicPeriod"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Build a leakage-safe prediction model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50"/>
              <a:buFont typeface="Montserrat"/>
              <a:buAutoNum type="arabicPeriod"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Deliver business tools through Tableau and Streamlit</a:t>
            </a:r>
            <a:br>
              <a:rPr lang="en" sz="1250">
                <a:latin typeface="Montserrat"/>
                <a:ea typeface="Montserrat"/>
                <a:cs typeface="Montserrat"/>
                <a:sym typeface="Montserrat"/>
              </a:rPr>
            </a:br>
            <a:endParaRPr sz="125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latin typeface="Montserrat Medium"/>
                <a:ea typeface="Montserrat Medium"/>
                <a:cs typeface="Montserrat Medium"/>
                <a:sym typeface="Montserrat Medium"/>
              </a:rPr>
              <a:t>Main principle</a:t>
            </a:r>
            <a:endParaRPr sz="125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Predict late-delivery risk using only pre-delivery information.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608125" y="3856906"/>
            <a:ext cx="3184800" cy="4920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3247"/>
                </a:solidFill>
              </a:rPr>
              <a:t>ML Model </a:t>
            </a:r>
            <a:endParaRPr>
              <a:solidFill>
                <a:srgbClr val="173247"/>
              </a:solidFill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5608125" y="2419206"/>
            <a:ext cx="3184800" cy="4920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3247"/>
                </a:solidFill>
              </a:rPr>
              <a:t>SQL Layer </a:t>
            </a:r>
            <a:endParaRPr>
              <a:solidFill>
                <a:srgbClr val="173247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608125" y="1700356"/>
            <a:ext cx="3184800" cy="4920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3247"/>
                </a:solidFill>
              </a:rPr>
              <a:t>Data Cleaning </a:t>
            </a:r>
            <a:endParaRPr>
              <a:solidFill>
                <a:srgbClr val="173247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608125" y="981506"/>
            <a:ext cx="3184800" cy="4920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3247"/>
                </a:solidFill>
              </a:rPr>
              <a:t>Data Understanding </a:t>
            </a:r>
            <a:endParaRPr>
              <a:solidFill>
                <a:srgbClr val="173247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5608125" y="3138056"/>
            <a:ext cx="3184800" cy="4920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3247"/>
                </a:solidFill>
              </a:rPr>
              <a:t>EDA </a:t>
            </a:r>
            <a:endParaRPr>
              <a:solidFill>
                <a:srgbClr val="173247"/>
              </a:solidFill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608125" y="4575756"/>
            <a:ext cx="3184800" cy="4920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3247"/>
                </a:solidFill>
              </a:rPr>
              <a:t>Tableau + Streamlit</a:t>
            </a:r>
            <a:endParaRPr>
              <a:solidFill>
                <a:srgbClr val="173247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7127475" y="1403031"/>
            <a:ext cx="146100" cy="341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5566B"/>
          </a:solidFill>
          <a:ln cap="flat" cmpd="sng" w="9525">
            <a:solidFill>
              <a:srgbClr val="3556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7127475" y="2134931"/>
            <a:ext cx="146100" cy="341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5566B"/>
          </a:solidFill>
          <a:ln cap="flat" cmpd="sng" w="9525">
            <a:solidFill>
              <a:srgbClr val="3556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7127475" y="2853781"/>
            <a:ext cx="146100" cy="341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5566B"/>
          </a:solidFill>
          <a:ln cap="flat" cmpd="sng" w="9525">
            <a:solidFill>
              <a:srgbClr val="3556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7127475" y="3572631"/>
            <a:ext cx="146100" cy="341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5566B"/>
          </a:solidFill>
          <a:ln cap="flat" cmpd="sng" w="9525">
            <a:solidFill>
              <a:srgbClr val="3556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7127475" y="4291481"/>
            <a:ext cx="146100" cy="341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5566B"/>
          </a:solidFill>
          <a:ln cap="flat" cmpd="sng" w="9525">
            <a:solidFill>
              <a:srgbClr val="3556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207227" y="1713487"/>
            <a:ext cx="3400500" cy="3390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143550" y="948976"/>
            <a:ext cx="5221200" cy="40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Late delivery was defined at calendar-date level: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rgbClr val="17324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delivered_date &gt; estimated_delivery_date</a:t>
            </a:r>
            <a:endParaRPr sz="1250">
              <a:solidFill>
                <a:srgbClr val="17324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17324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Orders delivered on the estimated delivery date are not considered late.</a:t>
            </a:r>
            <a:br>
              <a:rPr lang="en" sz="1250">
                <a:latin typeface="Montserrat"/>
                <a:ea typeface="Montserrat"/>
                <a:cs typeface="Montserrat"/>
                <a:sym typeface="Montserrat"/>
              </a:rPr>
            </a:b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Why this matters: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The estimated delivery field represents a promised delivery date, not an exact timestamp deadline.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25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Timestamp-based logic would have incorrectly classified 1,292 same-day deliveries as late.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6141900" y="2210398"/>
            <a:ext cx="2356200" cy="7227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6141900" y="1041775"/>
            <a:ext cx="2356200" cy="7227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6484075" y="2344350"/>
            <a:ext cx="16428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Late orders </a:t>
            </a:r>
            <a:endParaRPr sz="13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6,534 </a:t>
            </a:r>
            <a:endParaRPr sz="120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5731525" y="1077713"/>
            <a:ext cx="314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Delivered orders analyzed </a:t>
            </a:r>
            <a:endParaRPr sz="12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96,470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6127375" y="3379025"/>
            <a:ext cx="2356200" cy="7227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6127250" y="3512975"/>
            <a:ext cx="2356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Late delivery rate </a:t>
            </a:r>
            <a:endParaRPr sz="15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6.77% </a:t>
            </a:r>
            <a:endParaRPr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143550" y="159775"/>
            <a:ext cx="830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Target Definition: </a:t>
            </a:r>
            <a:br>
              <a:rPr lang="en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"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What counts as a late delivery?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132775" y="200800"/>
            <a:ext cx="873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800">
                <a:latin typeface="Montserrat SemiBold"/>
                <a:ea typeface="Montserrat SemiBold"/>
                <a:cs typeface="Montserrat SemiBold"/>
                <a:sym typeface="Montserrat SemiBold"/>
              </a:rPr>
              <a:t>Delivery Performance Insights:</a:t>
            </a:r>
            <a:endParaRPr sz="18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800">
                <a:latin typeface="Montserrat SemiBold"/>
                <a:ea typeface="Montserrat SemiBold"/>
                <a:cs typeface="Montserrat SemiBold"/>
                <a:sym typeface="Montserrat SemiBold"/>
              </a:rPr>
              <a:t>Late delivery is not random </a:t>
            </a:r>
            <a:endParaRPr sz="27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t/>
            </a:r>
            <a:endParaRPr sz="232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t/>
            </a:r>
            <a:endParaRPr sz="2020"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179250" y="1500625"/>
            <a:ext cx="878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Late delivery concentrates by geography, route type and peak periods, and clearly impacts customer satisfaction.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5885525" y="2587650"/>
            <a:ext cx="2356200" cy="7227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5885400" y="2721600"/>
            <a:ext cx="2356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SP → RJ </a:t>
            </a:r>
            <a:endParaRPr sz="120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14.17% late rate</a:t>
            </a:r>
            <a:endParaRPr sz="120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8,131 orders </a:t>
            </a:r>
            <a:endParaRPr sz="120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1445150" y="3808775"/>
            <a:ext cx="2356200" cy="7227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1445150" y="3942725"/>
            <a:ext cx="2356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Peak-month late rate </a:t>
            </a:r>
            <a:endParaRPr sz="13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15.15% </a:t>
            </a:r>
            <a:endParaRPr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1445275" y="2571750"/>
            <a:ext cx="2356200" cy="7227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1445150" y="2705700"/>
            <a:ext cx="2356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Same-state vs cross-state late rate </a:t>
            </a:r>
            <a:endParaRPr sz="13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4.52% vs 8.04% </a:t>
            </a:r>
            <a:endParaRPr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5885575" y="3824675"/>
            <a:ext cx="2356200" cy="7227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5885450" y="3840725"/>
            <a:ext cx="23562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Review score impact </a:t>
            </a:r>
            <a:br>
              <a:rPr lang="en" sz="13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" sz="13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(On-time vs late)</a:t>
            </a:r>
            <a:endParaRPr sz="13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4.29 vs 2.27 </a:t>
            </a:r>
            <a:endParaRPr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/>
          <p:nvPr/>
        </p:nvSpPr>
        <p:spPr>
          <a:xfrm>
            <a:off x="405800" y="2754713"/>
            <a:ext cx="1713000" cy="5727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>
            <p:ph type="title"/>
          </p:nvPr>
        </p:nvSpPr>
        <p:spPr>
          <a:xfrm>
            <a:off x="84200" y="0"/>
            <a:ext cx="605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From prediction to prioritization </a:t>
            </a:r>
            <a:endParaRPr sz="222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84200" y="500425"/>
            <a:ext cx="87228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The model converts delivery patterns into an operational risk-prioritization tool.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50"/>
          </a:p>
        </p:txBody>
      </p:sp>
      <p:sp>
        <p:nvSpPr>
          <p:cNvPr id="118" name="Google Shape;118;p18"/>
          <p:cNvSpPr txBox="1"/>
          <p:nvPr/>
        </p:nvSpPr>
        <p:spPr>
          <a:xfrm>
            <a:off x="243050" y="1018088"/>
            <a:ext cx="20385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Final model:</a:t>
            </a:r>
            <a:endParaRPr sz="145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 </a:t>
            </a:r>
            <a:r>
              <a:rPr lang="en" sz="14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Random Forest</a:t>
            </a:r>
            <a:br>
              <a:rPr lang="en" sz="14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4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 </a:t>
            </a:r>
            <a:r>
              <a:rPr lang="en" sz="14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Threshold: 0.16</a:t>
            </a:r>
            <a:br>
              <a:rPr lang="en" sz="14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4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 </a:t>
            </a:r>
            <a:r>
              <a:rPr lang="en" sz="14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PR-AUC: 23.84%</a:t>
            </a:r>
            <a:br>
              <a:rPr lang="en" sz="14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4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" sz="14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Recall: 34.20%</a:t>
            </a:r>
            <a:endParaRPr sz="14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2739175" y="4436700"/>
            <a:ext cx="63276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model is not a perfect detector. It helps operations focus on orders with higher-than-average risk.</a:t>
            </a:r>
            <a:endParaRPr sz="125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405625" y="4343263"/>
            <a:ext cx="1713000" cy="5727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431300" y="4359413"/>
            <a:ext cx="166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Lift vs baseline</a:t>
            </a:r>
            <a:endParaRPr sz="13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4.3x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405800" y="3537325"/>
            <a:ext cx="1713000" cy="605100"/>
          </a:xfrm>
          <a:prstGeom prst="rect">
            <a:avLst/>
          </a:prstGeom>
          <a:solidFill>
            <a:srgbClr val="EDF3F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195625" y="3569575"/>
            <a:ext cx="2133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Flagged late rate </a:t>
            </a:r>
            <a:endParaRPr sz="13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29.14%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84200" y="2813675"/>
            <a:ext cx="2356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Flagged order share </a:t>
            </a:r>
            <a:r>
              <a:rPr lang="en" sz="130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130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7.95% </a:t>
            </a:r>
            <a:endParaRPr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0400" y="972313"/>
            <a:ext cx="6327495" cy="34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196775" y="1294275"/>
            <a:ext cx="3869700" cy="3620400"/>
          </a:xfrm>
          <a:prstGeom prst="roundRect">
            <a:avLst>
              <a:gd fmla="val 8989" name="adj"/>
            </a:avLst>
          </a:prstGeom>
          <a:solidFill>
            <a:srgbClr val="ED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196775" y="1349775"/>
            <a:ext cx="3805500" cy="3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Tableau Dashboard</a:t>
            </a:r>
            <a:endParaRPr sz="145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     Monitoring &amp; reporting layer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Historical delivery performance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Geographic and route risk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Risk-band monitoring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" sz="1250">
                <a:latin typeface="Montserrat"/>
                <a:ea typeface="Montserrat"/>
                <a:cs typeface="Montserrat"/>
                <a:sym typeface="Montserrat"/>
              </a:rPr>
              <a:t>Executive overview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Open Tableau Dashboard</a:t>
            </a:r>
            <a:endParaRPr sz="12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71575" y="16058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From Analysis to Business Tools </a:t>
            </a:r>
            <a:endParaRPr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71575" y="733275"/>
            <a:ext cx="8694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Tableau monitors performance. Streamlit supports order-level action.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4896475" y="1294273"/>
            <a:ext cx="3869700" cy="3678000"/>
          </a:xfrm>
          <a:prstGeom prst="roundRect">
            <a:avLst>
              <a:gd fmla="val 8989" name="adj"/>
            </a:avLst>
          </a:prstGeom>
          <a:solidFill>
            <a:srgbClr val="ED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4928350" y="1349775"/>
            <a:ext cx="38055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1732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Streamlit App</a:t>
            </a:r>
            <a:endParaRPr sz="1450">
              <a:solidFill>
                <a:srgbClr val="1732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  Operational scoring layer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Score individual orders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Upload batch orders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Assign risk bands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Flag high-risk deliveries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" sz="125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Recommend action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Open Streamlit App</a:t>
            </a:r>
            <a:endParaRPr sz="125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377800" y="18465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3220"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377800" y="2419200"/>
            <a:ext cx="85206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Johannes Vidal</a:t>
            </a:r>
            <a:br>
              <a:rPr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GitHub Repository: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https://github.com/JohannesVidal/supplyguard-late-delivery-risk-prediction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3247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>
              <a:solidFill>
                <a:srgbClr val="1732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0" title="SupplyGuard_Logo.png"/>
          <p:cNvPicPr preferRelativeResize="0"/>
          <p:nvPr/>
        </p:nvPicPr>
        <p:blipFill rotWithShape="1">
          <a:blip r:embed="rId4">
            <a:alphaModFix/>
          </a:blip>
          <a:srcRect b="30205" l="0" r="0" t="27431"/>
          <a:stretch/>
        </p:blipFill>
        <p:spPr>
          <a:xfrm>
            <a:off x="2458875" y="0"/>
            <a:ext cx="4358462" cy="184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